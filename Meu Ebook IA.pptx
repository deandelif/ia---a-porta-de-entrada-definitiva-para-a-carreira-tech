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9" r:id="rId4"/>
    <p:sldId id="267" r:id="rId5"/>
    <p:sldId id="257" r:id="rId6"/>
    <p:sldId id="270" r:id="rId7"/>
    <p:sldId id="260" r:id="rId8"/>
    <p:sldId id="268" r:id="rId9"/>
    <p:sldId id="264" r:id="rId10"/>
    <p:sldId id="269" r:id="rId11"/>
    <p:sldId id="265" r:id="rId12"/>
    <p:sldId id="273" r:id="rId13"/>
    <p:sldId id="266" r:id="rId14"/>
    <p:sldId id="271" r:id="rId15"/>
    <p:sldId id="272" r:id="rId16"/>
    <p:sldId id="262" r:id="rId17"/>
    <p:sldId id="263" r:id="rId18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41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04A4D"/>
    <a:srgbClr val="4F7089"/>
    <a:srgbClr val="1B373A"/>
    <a:srgbClr val="47555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068" y="-1290"/>
      </p:cViewPr>
      <p:guideLst>
        <p:guide orient="horz" pos="3941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50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22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1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94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4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26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55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13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40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4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87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5CD95-33CB-4305-8AA4-B79EB9059B53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6F26-D712-4FE0-BB10-76A86438F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18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E0BEB-EF3E-79A8-2DEA-6A86D293E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70CCCC-B5F2-5F83-9B13-D7B8C9CDBD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30F26A-DF67-3BBF-6C7E-246101150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5076"/>
            <a:ext cx="9601200" cy="6400800"/>
          </a:xfrm>
          <a:prstGeom prst="rect">
            <a:avLst/>
          </a:prstGeom>
        </p:spPr>
      </p:pic>
      <p:sp>
        <p:nvSpPr>
          <p:cNvPr id="6" name="AutoShape 2" descr="Ai Logo PNG Images With Transparent Background | Free Download On Lovepik">
            <a:extLst>
              <a:ext uri="{FF2B5EF4-FFF2-40B4-BE49-F238E27FC236}">
                <a16:creationId xmlns:a16="http://schemas.microsoft.com/office/drawing/2014/main" id="{ECD75A3C-1A41-598A-111A-C912B6052B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199" y="3442063"/>
            <a:ext cx="3111137" cy="311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44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6052-20BA-C972-E75B-0F19B55C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FDB0FCC6-E00B-28F8-689C-33197888A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29" y="1143098"/>
            <a:ext cx="7967019" cy="2216259"/>
          </a:xfrm>
        </p:spPr>
        <p:txBody>
          <a:bodyPr>
            <a:normAutofit fontScale="90000"/>
          </a:bodyPr>
          <a:lstStyle/>
          <a:p>
            <a:pPr algn="l"/>
            <a:r>
              <a:rPr lang="pt-BR" sz="4800" dirty="0">
                <a:latin typeface="Impact" panose="020B0806030902050204" pitchFamily="34" charset="0"/>
              </a:rPr>
              <a:t>Lorem ipsum dolor </a:t>
            </a:r>
            <a:r>
              <a:rPr lang="pt-BR" sz="4800" dirty="0" err="1">
                <a:latin typeface="Impact" panose="020B0806030902050204" pitchFamily="34" charset="0"/>
              </a:rPr>
              <a:t>sit</a:t>
            </a:r>
            <a:r>
              <a:rPr lang="pt-BR" sz="4800" dirty="0">
                <a:latin typeface="Impact" panose="020B0806030902050204" pitchFamily="34" charset="0"/>
              </a:rPr>
              <a:t> </a:t>
            </a:r>
            <a:r>
              <a:rPr lang="pt-BR" sz="4800" dirty="0" err="1">
                <a:latin typeface="Impact" panose="020B0806030902050204" pitchFamily="34" charset="0"/>
              </a:rPr>
              <a:t>amet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7589C21F-1114-38BD-5F4D-37B681955D64}"/>
              </a:ext>
            </a:extLst>
          </p:cNvPr>
          <p:cNvSpPr txBox="1">
            <a:spLocks/>
          </p:cNvSpPr>
          <p:nvPr/>
        </p:nvSpPr>
        <p:spPr>
          <a:xfrm>
            <a:off x="534430" y="4505165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 err="1"/>
              <a:t>Lorem</a:t>
            </a:r>
            <a:r>
              <a:rPr lang="pt-BR" sz="2500" dirty="0"/>
              <a:t> ipsum </a:t>
            </a:r>
            <a:r>
              <a:rPr lang="pt-BR" sz="2500" dirty="0" err="1"/>
              <a:t>dolor</a:t>
            </a:r>
            <a:r>
              <a:rPr lang="pt-BR" sz="2500" dirty="0"/>
              <a:t> </a:t>
            </a:r>
            <a:r>
              <a:rPr lang="pt-BR" sz="2500" dirty="0" err="1"/>
              <a:t>sit</a:t>
            </a:r>
            <a:r>
              <a:rPr lang="pt-BR" sz="2500" dirty="0"/>
              <a:t> </a:t>
            </a:r>
            <a:r>
              <a:rPr lang="pt-BR" sz="2500" dirty="0" err="1"/>
              <a:t>amet</a:t>
            </a:r>
            <a:r>
              <a:rPr lang="pt-BR" sz="2500" dirty="0"/>
              <a:t>, </a:t>
            </a:r>
            <a:r>
              <a:rPr lang="pt-BR" sz="2500" dirty="0" err="1"/>
              <a:t>consectetuer</a:t>
            </a:r>
            <a:r>
              <a:rPr lang="pt-BR" sz="2500" dirty="0"/>
              <a:t> </a:t>
            </a:r>
            <a:r>
              <a:rPr lang="pt-BR" sz="2500" dirty="0" err="1"/>
              <a:t>adipiscing</a:t>
            </a:r>
            <a:r>
              <a:rPr lang="pt-BR" sz="2500" dirty="0"/>
              <a:t> </a:t>
            </a:r>
            <a:r>
              <a:rPr lang="pt-BR" sz="2500" dirty="0" err="1"/>
              <a:t>elit</a:t>
            </a:r>
            <a:r>
              <a:rPr lang="pt-BR" sz="2500" dirty="0"/>
              <a:t>. </a:t>
            </a:r>
            <a:r>
              <a:rPr lang="pt-BR" sz="2500" dirty="0" err="1"/>
              <a:t>Maecenas</a:t>
            </a:r>
            <a:r>
              <a:rPr lang="pt-BR" sz="2500" dirty="0"/>
              <a:t> </a:t>
            </a:r>
            <a:r>
              <a:rPr lang="pt-BR" sz="2500" dirty="0" err="1"/>
              <a:t>porttitor</a:t>
            </a:r>
            <a:r>
              <a:rPr lang="pt-BR" sz="2500" dirty="0"/>
              <a:t> </a:t>
            </a:r>
            <a:r>
              <a:rPr lang="pt-BR" sz="2500" dirty="0" err="1"/>
              <a:t>congue</a:t>
            </a:r>
            <a:r>
              <a:rPr lang="pt-BR" sz="2500" dirty="0"/>
              <a:t> massa. </a:t>
            </a:r>
            <a:r>
              <a:rPr lang="pt-BR" sz="2500" dirty="0" err="1"/>
              <a:t>Fusce</a:t>
            </a:r>
            <a:r>
              <a:rPr lang="pt-BR" sz="2500" dirty="0"/>
              <a:t> </a:t>
            </a:r>
            <a:r>
              <a:rPr lang="pt-BR" sz="2500" dirty="0" err="1"/>
              <a:t>posuere</a:t>
            </a:r>
            <a:r>
              <a:rPr lang="pt-BR" sz="2500" dirty="0"/>
              <a:t>, magna </a:t>
            </a:r>
            <a:r>
              <a:rPr lang="pt-BR" sz="2500" dirty="0" err="1"/>
              <a:t>sed</a:t>
            </a:r>
            <a:r>
              <a:rPr lang="pt-BR" sz="2500" dirty="0"/>
              <a:t> </a:t>
            </a:r>
            <a:r>
              <a:rPr lang="pt-BR" sz="2500" dirty="0" err="1"/>
              <a:t>pulvinar</a:t>
            </a:r>
            <a:r>
              <a:rPr lang="pt-BR" sz="2500" dirty="0"/>
              <a:t> </a:t>
            </a:r>
            <a:r>
              <a:rPr lang="pt-BR" sz="2500" dirty="0" err="1"/>
              <a:t>ultricies</a:t>
            </a:r>
            <a:r>
              <a:rPr lang="pt-BR" sz="2500" dirty="0"/>
              <a:t>, </a:t>
            </a:r>
            <a:r>
              <a:rPr lang="pt-BR" sz="2500" dirty="0" err="1"/>
              <a:t>purus</a:t>
            </a:r>
            <a:r>
              <a:rPr lang="pt-BR" sz="2500" dirty="0"/>
              <a:t> </a:t>
            </a:r>
            <a:r>
              <a:rPr lang="pt-BR" sz="2500" dirty="0" err="1"/>
              <a:t>lectus</a:t>
            </a:r>
            <a:r>
              <a:rPr lang="pt-BR" sz="2500" dirty="0"/>
              <a:t> </a:t>
            </a:r>
            <a:r>
              <a:rPr lang="pt-BR" sz="2500" dirty="0" err="1"/>
              <a:t>malesuada</a:t>
            </a:r>
            <a:r>
              <a:rPr lang="pt-BR" sz="2500" dirty="0"/>
              <a:t> libero, </a:t>
            </a:r>
            <a:r>
              <a:rPr lang="pt-BR" sz="2500" dirty="0" err="1"/>
              <a:t>sit</a:t>
            </a:r>
            <a:r>
              <a:rPr lang="pt-BR" sz="2500" dirty="0"/>
              <a:t> </a:t>
            </a:r>
            <a:r>
              <a:rPr lang="pt-BR" sz="2500" dirty="0" err="1"/>
              <a:t>amet</a:t>
            </a:r>
            <a:r>
              <a:rPr lang="pt-BR" sz="2500" dirty="0"/>
              <a:t> </a:t>
            </a:r>
            <a:r>
              <a:rPr lang="pt-BR" sz="2500" dirty="0" err="1"/>
              <a:t>commodo</a:t>
            </a:r>
            <a:r>
              <a:rPr lang="pt-BR" sz="2500" dirty="0"/>
              <a:t> magna </a:t>
            </a:r>
            <a:r>
              <a:rPr lang="pt-BR" sz="2500" dirty="0" err="1"/>
              <a:t>eros</a:t>
            </a:r>
            <a:r>
              <a:rPr lang="pt-BR" sz="2500" dirty="0"/>
              <a:t> quis urna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2382FB38-3CD8-FB22-B3D3-63419C3DC967}"/>
              </a:ext>
            </a:extLst>
          </p:cNvPr>
          <p:cNvSpPr txBox="1"/>
          <p:nvPr/>
        </p:nvSpPr>
        <p:spPr>
          <a:xfrm>
            <a:off x="534430" y="3670651"/>
            <a:ext cx="5520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>
                <a:latin typeface="+mj-lt"/>
              </a:rPr>
              <a:t>Lorem</a:t>
            </a:r>
            <a:r>
              <a:rPr lang="pt-BR" sz="2800" dirty="0">
                <a:latin typeface="+mj-lt"/>
              </a:rPr>
              <a:t> ipsum </a:t>
            </a:r>
            <a:r>
              <a:rPr lang="pt-BR" sz="2800" dirty="0" err="1">
                <a:latin typeface="+mj-lt"/>
              </a:rPr>
              <a:t>dolor</a:t>
            </a:r>
            <a:r>
              <a:rPr lang="pt-BR" sz="2800" dirty="0">
                <a:latin typeface="+mj-lt"/>
              </a:rPr>
              <a:t> </a:t>
            </a:r>
            <a:r>
              <a:rPr lang="pt-BR" sz="2800" dirty="0" err="1">
                <a:latin typeface="+mj-lt"/>
              </a:rPr>
              <a:t>sit</a:t>
            </a:r>
            <a:r>
              <a:rPr lang="pt-BR" sz="2800" dirty="0">
                <a:latin typeface="+mj-lt"/>
              </a:rPr>
              <a:t> </a:t>
            </a:r>
            <a:r>
              <a:rPr lang="pt-BR" sz="2800" dirty="0" err="1">
                <a:latin typeface="+mj-lt"/>
              </a:rPr>
              <a:t>amet</a:t>
            </a:r>
            <a:endParaRPr lang="pt-B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3671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2A24B-7039-AFE2-04E6-96088B18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_componente">
            <a:extLst>
              <a:ext uri="{FF2B5EF4-FFF2-40B4-BE49-F238E27FC236}">
                <a16:creationId xmlns:a16="http://schemas.microsoft.com/office/drawing/2014/main" id="{F0911905-D390-6561-2F18-011256E14A79}"/>
              </a:ext>
            </a:extLst>
          </p:cNvPr>
          <p:cNvSpPr txBox="1">
            <a:spLocks/>
          </p:cNvSpPr>
          <p:nvPr/>
        </p:nvSpPr>
        <p:spPr>
          <a:xfrm>
            <a:off x="490019" y="555266"/>
            <a:ext cx="7967019" cy="22162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800" dirty="0">
                <a:latin typeface="Impact" panose="020B0806030902050204" pitchFamily="34" charset="0"/>
              </a:rPr>
              <a:t>POR QUE A INTELIGÊNCIA ARTIFICIAL É A PORTA DEFINITIVASUBTÍTULO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4501847-6E6F-4CAA-B2C7-8E348F92BD78}"/>
              </a:ext>
            </a:extLst>
          </p:cNvPr>
          <p:cNvSpPr txBox="1">
            <a:spLocks/>
          </p:cNvSpPr>
          <p:nvPr/>
        </p:nvSpPr>
        <p:spPr>
          <a:xfrm>
            <a:off x="1135325" y="4511250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2500" dirty="0"/>
              <a:t>Veja como a IA acelera o aprendizado e reduz a complexidade inicial. Entenda por que ela potencializa todas as outras áreas da tecnologia. Aprenda por que começar pela IA é a estratégia mais eficiente hoje.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1BBAB5-EB77-DC85-BD6F-04D9AF4EF138}"/>
              </a:ext>
            </a:extLst>
          </p:cNvPr>
          <p:cNvSpPr/>
          <p:nvPr/>
        </p:nvSpPr>
        <p:spPr>
          <a:xfrm flipV="1">
            <a:off x="386516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1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0967-F965-631C-5E63-A2E1F4F5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CD72E365-4257-3974-7771-57EA2F76F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29" y="1143098"/>
            <a:ext cx="7904177" cy="1521725"/>
          </a:xfrm>
        </p:spPr>
        <p:txBody>
          <a:bodyPr>
            <a:normAutofit fontScale="90000"/>
          </a:bodyPr>
          <a:lstStyle/>
          <a:p>
            <a:pPr algn="l"/>
            <a:r>
              <a:rPr lang="pt-BR" sz="5300" dirty="0">
                <a:latin typeface="Impact" panose="020B0806030902050204" pitchFamily="34" charset="0"/>
              </a:rPr>
              <a:t>Introdução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3A76E795-07D4-9D19-74BB-C7B7FB76809A}"/>
              </a:ext>
            </a:extLst>
          </p:cNvPr>
          <p:cNvSpPr txBox="1">
            <a:spLocks/>
          </p:cNvSpPr>
          <p:nvPr/>
        </p:nvSpPr>
        <p:spPr>
          <a:xfrm>
            <a:off x="534429" y="2913017"/>
            <a:ext cx="7904177" cy="6975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/>
              <a:t>Entrar na área de tecnologia pode parecer algo distante, complexo ou até impossível para quem está começando do zero. Mas a verdade é que o cenário mudou. A Inteligência Artificial abriu uma nova porta — mais acessível, mais rápida e muito mais inteligente — para todos que desejam iniciar uma carreira Tech com segurança e direção. Hoje, você não precisa dominar códigos avançados ou entender todos os termos técnicos antes de dar o primeiro passo. A IA permite que você aprenda de forma prática, guiada e acelerada, mesmo sem experiência prévia. Ela explica, demonstra, corrige e te ajuda a construir habilidades reais enquanto você aprende. Este é o momento ideal para começar. Não porque é fácil, mas porque a tecnologia nunca esteve tão ao alcance de todos. E se você está lendo este ebook, significa que já iniciou a sua transformação. Aqui, você vai descobrir como a Inteligência Artificial pode ser sua aliada para entrar de vez no mundo Tech — com clareza, método e confiança. O futuro está aberto .E ele começa agora, com você dando o primeiro passo.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EB80B8F2-AC89-7D8C-BCE9-06284FEA13CC}"/>
              </a:ext>
            </a:extLst>
          </p:cNvPr>
          <p:cNvSpPr txBox="1"/>
          <p:nvPr/>
        </p:nvSpPr>
        <p:spPr>
          <a:xfrm>
            <a:off x="534429" y="2207609"/>
            <a:ext cx="83221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O Primeiro Passo Para Sua Transformação Tech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147658-08E5-2961-C7BD-37B3CCA93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621" y="110234"/>
            <a:ext cx="949350" cy="94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5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0138A-BA73-810B-73FD-872EF427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0B759CC-8CD8-1DDE-64C9-39B9835B721B}"/>
              </a:ext>
            </a:extLst>
          </p:cNvPr>
          <p:cNvSpPr/>
          <p:nvPr/>
        </p:nvSpPr>
        <p:spPr>
          <a:xfrm>
            <a:off x="47078" y="8790192"/>
            <a:ext cx="9522281" cy="3272083"/>
          </a:xfrm>
          <a:prstGeom prst="round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351838-6B62-D65C-DCB9-385EA4A62024}"/>
              </a:ext>
            </a:extLst>
          </p:cNvPr>
          <p:cNvSpPr/>
          <p:nvPr/>
        </p:nvSpPr>
        <p:spPr>
          <a:xfrm>
            <a:off x="-20953" y="0"/>
            <a:ext cx="9680120" cy="12833412"/>
          </a:xfrm>
          <a:prstGeom prst="rect">
            <a:avLst/>
          </a:prstGeom>
          <a:solidFill>
            <a:srgbClr val="1B3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4F8ACE-9812-A1ED-7F18-293022B6B74B}"/>
              </a:ext>
            </a:extLst>
          </p:cNvPr>
          <p:cNvSpPr/>
          <p:nvPr/>
        </p:nvSpPr>
        <p:spPr>
          <a:xfrm>
            <a:off x="47079" y="11469189"/>
            <a:ext cx="9612088" cy="1300599"/>
          </a:xfrm>
          <a:prstGeom prst="roundRect">
            <a:avLst/>
          </a:prstGeom>
          <a:solidFill>
            <a:srgbClr val="FFFFFF">
              <a:alpha val="65098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n w="0">
                  <a:solidFill>
                    <a:schemeClr val="accent3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 Dean Freitas</a:t>
            </a:r>
            <a:endParaRPr lang="pt-BR" sz="4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F4C933-92E7-4962-13F8-2332EC942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" y="2233924"/>
            <a:ext cx="9607706" cy="640513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430D7CF-F429-F872-F670-35B3EB8BF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21" y="2164119"/>
            <a:ext cx="1340799" cy="1340799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57A26E5-BB56-7C5C-8D3B-6E3B9D9F9A85}"/>
              </a:ext>
            </a:extLst>
          </p:cNvPr>
          <p:cNvSpPr txBox="1"/>
          <p:nvPr/>
        </p:nvSpPr>
        <p:spPr>
          <a:xfrm>
            <a:off x="581838" y="501409"/>
            <a:ext cx="8442960" cy="123110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0">
              <a:bevelT w="190500" h="190500"/>
              <a:bevelB w="190500" h="190500"/>
            </a:sp3d>
          </a:bodyPr>
          <a:lstStyle/>
          <a:p>
            <a:r>
              <a:rPr lang="pt-BR" sz="7200" b="1" dirty="0">
                <a:ln w="0">
                  <a:solidFill>
                    <a:schemeClr val="accent3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228600">
                    <a:schemeClr val="accent5">
                      <a:satMod val="175000"/>
                      <a:alpha val="61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Inteligência</a:t>
            </a:r>
            <a:r>
              <a:rPr lang="pt-BR" sz="7200" dirty="0">
                <a:ln w="0">
                  <a:solidFill>
                    <a:schemeClr val="accent3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228600">
                    <a:schemeClr val="accent5">
                      <a:satMod val="175000"/>
                      <a:alpha val="61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 artificial</a:t>
            </a:r>
            <a:endParaRPr lang="pt-BR" sz="7200" dirty="0">
              <a:ln w="0">
                <a:solidFill>
                  <a:schemeClr val="accent3"/>
                </a:solidFill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glow rad="228600">
                  <a:schemeClr val="accent5">
                    <a:satMod val="175000"/>
                    <a:alpha val="61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19FA61-347F-AC87-ED33-978C251F66ED}"/>
              </a:ext>
            </a:extLst>
          </p:cNvPr>
          <p:cNvSpPr txBox="1"/>
          <p:nvPr/>
        </p:nvSpPr>
        <p:spPr>
          <a:xfrm>
            <a:off x="10801350" y="6711189"/>
            <a:ext cx="8595360" cy="123110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0">
              <a:bevelT w="190500" h="190500"/>
              <a:bevelB w="190500" h="190500"/>
            </a:sp3d>
          </a:bodyPr>
          <a:lstStyle/>
          <a:p>
            <a:endParaRPr lang="pt-BR" sz="7400" dirty="0">
              <a:ln w="0">
                <a:solidFill>
                  <a:schemeClr val="accent3"/>
                </a:solidFill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glow rad="1041400">
                  <a:schemeClr val="accent1">
                    <a:alpha val="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54D87A-A6BD-C473-A58E-8CA72F1A8F61}"/>
              </a:ext>
            </a:extLst>
          </p:cNvPr>
          <p:cNvSpPr txBox="1"/>
          <p:nvPr/>
        </p:nvSpPr>
        <p:spPr>
          <a:xfrm>
            <a:off x="32112" y="8840857"/>
            <a:ext cx="9537248" cy="1569660"/>
          </a:xfrm>
          <a:prstGeom prst="rect">
            <a:avLst/>
          </a:prstGeom>
          <a:solidFill>
            <a:srgbClr val="1B373A"/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254000">
              <a:bevelT w="190500" h="190500"/>
              <a:bevelB w="190500" h="190500"/>
            </a:sp3d>
          </a:bodyPr>
          <a:lstStyle/>
          <a:p>
            <a:pPr algn="ctr"/>
            <a:r>
              <a:rPr lang="pt-BR" sz="4800" dirty="0">
                <a:ln w="0">
                  <a:solidFill>
                    <a:schemeClr val="accent3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Sua porta de entrada definitiva para a carreira Tech</a:t>
            </a:r>
            <a:endParaRPr lang="pt-BR" sz="4800" dirty="0">
              <a:ln w="0">
                <a:solidFill>
                  <a:schemeClr val="accent3"/>
                </a:solidFill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9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E176-6091-583D-543F-5952C0C2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7D4694E4-1CB4-F255-6904-EBFD85328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29" y="1143098"/>
            <a:ext cx="7904177" cy="1521725"/>
          </a:xfrm>
        </p:spPr>
        <p:txBody>
          <a:bodyPr>
            <a:normAutofit fontScale="90000"/>
          </a:bodyPr>
          <a:lstStyle/>
          <a:p>
            <a:pPr algn="l"/>
            <a:r>
              <a:rPr lang="pt-BR" sz="5300" dirty="0">
                <a:latin typeface="Impact" panose="020B0806030902050204" pitchFamily="34" charset="0"/>
              </a:rPr>
              <a:t>Introdução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24D4904B-F553-BFC4-7091-A2451C5F26C5}"/>
              </a:ext>
            </a:extLst>
          </p:cNvPr>
          <p:cNvSpPr txBox="1">
            <a:spLocks/>
          </p:cNvSpPr>
          <p:nvPr/>
        </p:nvSpPr>
        <p:spPr>
          <a:xfrm>
            <a:off x="534429" y="2913017"/>
            <a:ext cx="7904177" cy="6975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latin typeface="+mn-lt"/>
              </a:rPr>
              <a:t>Entrar na área de tecnologia pode parecer algo distante, complexo ou até impossível para quem está começando do zero. Mas a verdade é que o cenário mudou. A Inteligência Artificial abriu uma nova porta — mais acessível, mais rápida e muito mais inteligente — para todos que desejam iniciar uma carreira Tech com segurança e direção. Hoje, você não precisa dominar códigos avançados ou entender todos os termos técnicos antes de dar o primeiro passo. A IA permite que você aprenda de forma prática, guiada e acelerada, mesmo sem experiência prévia. Ela explica, demonstra, corrige e te ajuda a construir habilidades reais enquanto você aprende. Este é o momento ideal para começar. Não porque é fácil, mas porque a tecnologia nunca esteve tão ao alcance de todos. E se você está lendo este ebook, significa que já iniciou a sua transformação. Aqui, você vai descobrir como a Inteligência Artificial pode ser sua aliada para entrar de vez no mundo Tech — com clareza, método e confiança. O futuro está aberto .E ele começa agora, com você dando o primeiro passo.</a:t>
            </a:r>
            <a:br>
              <a:rPr lang="pt-BR" sz="2400" dirty="0">
                <a:latin typeface="+mn-lt"/>
              </a:rPr>
            </a:br>
            <a:endParaRPr lang="pt-BR" sz="2400" dirty="0">
              <a:latin typeface="+mn-lt"/>
            </a:endParaRPr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3DB45F8B-7D5D-13EF-A410-C62E0615BBC9}"/>
              </a:ext>
            </a:extLst>
          </p:cNvPr>
          <p:cNvSpPr txBox="1"/>
          <p:nvPr/>
        </p:nvSpPr>
        <p:spPr>
          <a:xfrm>
            <a:off x="534429" y="2207609"/>
            <a:ext cx="83221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+mj-lt"/>
              </a:rPr>
              <a:t>O Primeiro Passo Para Sua Transformação Tech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740F07-92CF-31CE-EDD5-6D066F914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621" y="110234"/>
            <a:ext cx="949350" cy="9493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EDAA588-1CD0-89B2-17A9-8EA4298F6770}"/>
              </a:ext>
            </a:extLst>
          </p:cNvPr>
          <p:cNvSpPr/>
          <p:nvPr/>
        </p:nvSpPr>
        <p:spPr>
          <a:xfrm flipV="1">
            <a:off x="423092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50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9073-5A4E-F468-7DF9-6096D302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D6E3C-7A52-AEF6-CAF2-3D15760953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A4063D-6045-B006-67BF-6DAE6CDD06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5CBBED-DCA0-3719-1E5D-61C04AFAE32C}"/>
              </a:ext>
            </a:extLst>
          </p:cNvPr>
          <p:cNvSpPr/>
          <p:nvPr/>
        </p:nvSpPr>
        <p:spPr>
          <a:xfrm>
            <a:off x="0" y="26126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_componente">
            <a:extLst>
              <a:ext uri="{FF2B5EF4-FFF2-40B4-BE49-F238E27FC236}">
                <a16:creationId xmlns:a16="http://schemas.microsoft.com/office/drawing/2014/main" id="{CE1C2BCE-1B20-534B-04F9-8E8A1658EE51}"/>
              </a:ext>
            </a:extLst>
          </p:cNvPr>
          <p:cNvSpPr txBox="1">
            <a:spLocks/>
          </p:cNvSpPr>
          <p:nvPr/>
        </p:nvSpPr>
        <p:spPr>
          <a:xfrm>
            <a:off x="720090" y="1769479"/>
            <a:ext cx="8161020" cy="44868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800" dirty="0">
                <a:ln>
                  <a:solidFill>
                    <a:srgbClr val="00B0F0"/>
                  </a:solidFill>
                </a:ln>
                <a:noFill/>
                <a:latin typeface="Impact" panose="020B0806030902050204" pitchFamily="34" charset="0"/>
              </a:rPr>
              <a:t>01</a:t>
            </a:r>
            <a:endParaRPr lang="pt-BR" sz="8600" dirty="0">
              <a:ln>
                <a:solidFill>
                  <a:srgbClr val="FFFFFF"/>
                </a:solidFill>
              </a:ln>
              <a:noFill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166E33E-BE41-3B9E-6BD8-E8AF6ED3AA68}"/>
              </a:ext>
            </a:extLst>
          </p:cNvPr>
          <p:cNvGrpSpPr/>
          <p:nvPr/>
        </p:nvGrpSpPr>
        <p:grpSpPr>
          <a:xfrm>
            <a:off x="738711" y="6299676"/>
            <a:ext cx="7967019" cy="2431470"/>
            <a:chOff x="738711" y="6299676"/>
            <a:chExt cx="7967019" cy="2431470"/>
          </a:xfrm>
        </p:grpSpPr>
        <p:sp>
          <p:nvSpPr>
            <p:cNvPr id="5" name="Título_componente">
              <a:extLst>
                <a:ext uri="{FF2B5EF4-FFF2-40B4-BE49-F238E27FC236}">
                  <a16:creationId xmlns:a16="http://schemas.microsoft.com/office/drawing/2014/main" id="{09D66A54-C875-BB33-7615-469CE05CA75A}"/>
                </a:ext>
              </a:extLst>
            </p:cNvPr>
            <p:cNvSpPr txBox="1">
              <a:spLocks/>
            </p:cNvSpPr>
            <p:nvPr/>
          </p:nvSpPr>
          <p:spPr>
            <a:xfrm>
              <a:off x="738711" y="6299676"/>
              <a:ext cx="7967019" cy="22162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6012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sz="8600" dirty="0">
                  <a:solidFill>
                    <a:schemeClr val="bg1"/>
                  </a:solidFill>
                  <a:latin typeface="Impact" panose="020B0806030902050204" pitchFamily="34" charset="0"/>
                </a:rPr>
                <a:t>O NOVO MAPA DA TECNOLOGIA</a:t>
              </a:r>
              <a:endParaRPr lang="pt-BR" sz="8600" dirty="0">
                <a:solidFill>
                  <a:schemeClr val="bg1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5C58CE5-3418-7CC8-D1B8-A35FDE676E4A}"/>
                </a:ext>
              </a:extLst>
            </p:cNvPr>
            <p:cNvSpPr/>
            <p:nvPr/>
          </p:nvSpPr>
          <p:spPr>
            <a:xfrm>
              <a:off x="1534883" y="8559273"/>
              <a:ext cx="6374674" cy="1718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1B9E03F7-BEF5-8158-6AF2-9C3148980B13}"/>
              </a:ext>
            </a:extLst>
          </p:cNvPr>
          <p:cNvSpPr txBox="1">
            <a:spLocks/>
          </p:cNvSpPr>
          <p:nvPr/>
        </p:nvSpPr>
        <p:spPr>
          <a:xfrm>
            <a:off x="1292082" y="8541029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dirty="0">
                <a:solidFill>
                  <a:schemeClr val="bg1"/>
                </a:solidFill>
              </a:rPr>
              <a:t>Compreenda como a tecnologia evoluiu e redefiniu o mercado atual. Veja quais áreas compõem o universo Tech e como elas se conectam. Entenda por que este é o momento mais acessível da história para iniciar.</a:t>
            </a:r>
            <a:br>
              <a:rPr lang="pt-BR" sz="2700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81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3C45-FE4C-098C-7239-4FB21789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F08E3486-A2CB-C221-8010-F4145AD36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1" y="850491"/>
            <a:ext cx="8444979" cy="1904706"/>
          </a:xfrm>
        </p:spPr>
        <p:txBody>
          <a:bodyPr>
            <a:normAutofit fontScale="90000"/>
          </a:bodyPr>
          <a:lstStyle/>
          <a:p>
            <a:pPr algn="l"/>
            <a:r>
              <a:rPr lang="pt-BR" sz="4800" dirty="0">
                <a:latin typeface="Impact" panose="020B0806030902050204" pitchFamily="34" charset="0"/>
              </a:rPr>
              <a:t>O NOVO MAPA DA TECNOLOGIA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95EF7CAB-DCDB-9C66-CA28-6F8C02A0E312}"/>
              </a:ext>
            </a:extLst>
          </p:cNvPr>
          <p:cNvSpPr txBox="1">
            <a:spLocks/>
          </p:cNvSpPr>
          <p:nvPr/>
        </p:nvSpPr>
        <p:spPr>
          <a:xfrm>
            <a:off x="461277" y="2139696"/>
            <a:ext cx="8444979" cy="74677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8000" dirty="0">
                <a:latin typeface="+mn-lt"/>
              </a:rPr>
              <a:t>A tecnologia deixou de ser apenas uma área e se tornou a base do funcionamento de praticamente todos os setores da economia. Hoje, qualquer empresa — de pequenos negócios a grandes organizações — depende de profissionais que entendam de tecnologia para operar, crescer e inovar. O “mapa” da tecnologia é composto por várias áreas, entre elas: </a:t>
            </a:r>
            <a:br>
              <a:rPr lang="pt-BR" sz="8000" dirty="0">
                <a:latin typeface="+mn-lt"/>
              </a:rPr>
            </a:br>
            <a:endParaRPr lang="pt-BR" sz="8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8000" dirty="0">
                <a:latin typeface="+mn-lt"/>
              </a:rPr>
              <a:t>Programação: criação de sistemas, sites e aplicativos.</a:t>
            </a:r>
            <a:br>
              <a:rPr lang="pt-BR" sz="8000" dirty="0">
                <a:latin typeface="+mn-lt"/>
              </a:rPr>
            </a:br>
            <a:endParaRPr lang="pt-BR" sz="8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8000" dirty="0">
                <a:latin typeface="+mn-lt"/>
              </a:rPr>
              <a:t>Análise de Dados: entender números e gerar decisões. </a:t>
            </a:r>
            <a:br>
              <a:rPr lang="pt-BR" sz="8000" dirty="0">
                <a:latin typeface="+mn-lt"/>
              </a:rPr>
            </a:br>
            <a:endParaRPr lang="pt-BR" sz="8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8000" dirty="0">
                <a:latin typeface="+mn-lt"/>
              </a:rPr>
              <a:t>UX/UI: melhorar a experiência dos usuários com produtos digitais.</a:t>
            </a:r>
            <a:br>
              <a:rPr lang="pt-BR" sz="8000" dirty="0">
                <a:latin typeface="+mn-lt"/>
              </a:rPr>
            </a:br>
            <a:endParaRPr lang="pt-BR" sz="8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8000" dirty="0">
                <a:latin typeface="+mn-lt"/>
              </a:rPr>
              <a:t>Cloud Computing: gerenciar sistemas em plataformas como AWS e Azure. </a:t>
            </a:r>
            <a:br>
              <a:rPr lang="pt-BR" sz="8000" dirty="0">
                <a:latin typeface="+mn-lt"/>
              </a:rPr>
            </a:br>
            <a:endParaRPr lang="pt-BR" sz="8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8000" dirty="0">
                <a:latin typeface="+mn-lt"/>
              </a:rPr>
              <a:t>Cibersegurança: proteger informações e estruturas digitais</a:t>
            </a:r>
          </a:p>
          <a:p>
            <a:pPr algn="just"/>
            <a:endParaRPr lang="pt-BR" sz="8000" dirty="0">
              <a:latin typeface="+mn-lt"/>
            </a:endParaRPr>
          </a:p>
          <a:p>
            <a:pPr algn="just"/>
            <a:endParaRPr lang="pt-BR" sz="8000" dirty="0">
              <a:latin typeface="+mn-lt"/>
            </a:endParaRPr>
          </a:p>
          <a:p>
            <a:pPr algn="just"/>
            <a:r>
              <a:rPr lang="pt-BR" sz="8000" dirty="0"/>
              <a:t>Mesmo sendo diferentes, todas essas áreas se conectam. Um programador precisa conhecer dados, um analista precisa entender ferramentas em nuvem, um designer precisa compreender o comportamento do usuário — e assim por diante.</a:t>
            </a:r>
          </a:p>
          <a:p>
            <a:pPr algn="just"/>
            <a:r>
              <a:rPr lang="pt-BR" sz="8000" dirty="0"/>
              <a:t>Mas o ponto mais importante é: </a:t>
            </a:r>
            <a:r>
              <a:rPr lang="pt-BR" sz="8000" b="1" dirty="0"/>
              <a:t>nunca foi tão fácil começar</a:t>
            </a:r>
            <a:r>
              <a:rPr lang="pt-BR" sz="8000" dirty="0"/>
              <a:t>.</a:t>
            </a:r>
          </a:p>
          <a:p>
            <a:pPr algn="just"/>
            <a:r>
              <a:rPr lang="pt-BR" sz="8000" dirty="0"/>
              <a:t>A tecnologia ficou mais acessível, mais intuitiva e conta com ferramentas que aceleram o aprendizado de qualquer iniciante. A Inteligência Artificial é a principal responsável por essa mudança, removendo barreiras que antes pareciam intransponíveis.</a:t>
            </a:r>
          </a:p>
          <a:p>
            <a:pPr algn="just"/>
            <a:r>
              <a:rPr lang="pt-BR" sz="8000" dirty="0"/>
              <a:t>Um exemplo claro disso é a programação. Antigamente, era necessário estudar meses apenas para entender lógica. Hoje, ferramentas de IA explicam cada linha de código, sugerem melhorias e até escrevem funções completas — permitindo que iniciantes aprendam até cinco vezes mais rápido.</a:t>
            </a:r>
          </a:p>
          <a:p>
            <a:pPr algn="just"/>
            <a:r>
              <a:rPr lang="pt-BR" sz="8000" dirty="0"/>
              <a:t>O mapa mudou. E você está entrando nele no melhor momento possível.</a:t>
            </a:r>
          </a:p>
          <a:p>
            <a:pPr algn="just"/>
            <a:endParaRPr lang="pt-BR" sz="8000" dirty="0">
              <a:latin typeface="+mn-lt"/>
            </a:endParaRPr>
          </a:p>
          <a:p>
            <a:pPr algn="just"/>
            <a:endParaRPr lang="pt-BR" sz="8000" dirty="0">
              <a:latin typeface="+mn-lt"/>
            </a:endParaRPr>
          </a:p>
          <a:p>
            <a:pPr algn="just"/>
            <a:br>
              <a:rPr lang="pt-BR" dirty="0">
                <a:latin typeface="+mn-lt"/>
              </a:rPr>
            </a:br>
            <a:endParaRPr lang="pt-BR" dirty="0">
              <a:latin typeface="+mn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E377CE4-FB6C-3F8A-7994-4E6E22980BFC}"/>
              </a:ext>
            </a:extLst>
          </p:cNvPr>
          <p:cNvSpPr/>
          <p:nvPr/>
        </p:nvSpPr>
        <p:spPr>
          <a:xfrm flipV="1">
            <a:off x="349940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19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5236-29A6-9DF4-BD30-45009A01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98A01-9C82-33CB-0AB3-5559CBF50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42B547-7611-DBB8-220B-6ADA3F019B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F3634AD-DE27-38B8-86D5-9F790C13C9AE}"/>
              </a:ext>
            </a:extLst>
          </p:cNvPr>
          <p:cNvSpPr/>
          <p:nvPr/>
        </p:nvSpPr>
        <p:spPr>
          <a:xfrm>
            <a:off x="0" y="26126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_componente">
            <a:extLst>
              <a:ext uri="{FF2B5EF4-FFF2-40B4-BE49-F238E27FC236}">
                <a16:creationId xmlns:a16="http://schemas.microsoft.com/office/drawing/2014/main" id="{25A30257-71A3-7C49-B522-86E335EB8F16}"/>
              </a:ext>
            </a:extLst>
          </p:cNvPr>
          <p:cNvSpPr txBox="1">
            <a:spLocks/>
          </p:cNvSpPr>
          <p:nvPr/>
        </p:nvSpPr>
        <p:spPr>
          <a:xfrm>
            <a:off x="720090" y="1769479"/>
            <a:ext cx="8161020" cy="44868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800" dirty="0">
                <a:ln>
                  <a:solidFill>
                    <a:srgbClr val="00B0F0"/>
                  </a:solidFill>
                </a:ln>
                <a:noFill/>
                <a:latin typeface="Impact" panose="020B0806030902050204" pitchFamily="34" charset="0"/>
              </a:rPr>
              <a:t>02</a:t>
            </a:r>
            <a:endParaRPr lang="pt-BR" sz="8600" dirty="0">
              <a:ln>
                <a:solidFill>
                  <a:srgbClr val="FFFFFF"/>
                </a:solidFill>
              </a:ln>
              <a:noFill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5DF0709-921D-D439-1304-041058748C7C}"/>
              </a:ext>
            </a:extLst>
          </p:cNvPr>
          <p:cNvGrpSpPr/>
          <p:nvPr/>
        </p:nvGrpSpPr>
        <p:grpSpPr>
          <a:xfrm>
            <a:off x="738711" y="6299676"/>
            <a:ext cx="7967019" cy="2431470"/>
            <a:chOff x="738711" y="6299676"/>
            <a:chExt cx="7967019" cy="2431470"/>
          </a:xfrm>
        </p:grpSpPr>
        <p:sp>
          <p:nvSpPr>
            <p:cNvPr id="5" name="Título_componente">
              <a:extLst>
                <a:ext uri="{FF2B5EF4-FFF2-40B4-BE49-F238E27FC236}">
                  <a16:creationId xmlns:a16="http://schemas.microsoft.com/office/drawing/2014/main" id="{E227F500-43F3-D21A-131C-8C14A7464F57}"/>
                </a:ext>
              </a:extLst>
            </p:cNvPr>
            <p:cNvSpPr txBox="1">
              <a:spLocks/>
            </p:cNvSpPr>
            <p:nvPr/>
          </p:nvSpPr>
          <p:spPr>
            <a:xfrm>
              <a:off x="738711" y="6299676"/>
              <a:ext cx="7967019" cy="22162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6012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sz="6200" dirty="0">
                  <a:solidFill>
                    <a:schemeClr val="bg1"/>
                  </a:solidFill>
                  <a:latin typeface="Impact" panose="020B0806030902050204" pitchFamily="34" charset="0"/>
                </a:rPr>
                <a:t>AS PRINCIPAIS PORTAS DE ENTRADA PARA A TECNOLOGIA</a:t>
              </a:r>
              <a:endParaRPr lang="pt-BR" sz="6200" dirty="0">
                <a:solidFill>
                  <a:schemeClr val="bg1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8ABB8A0-C4DB-59D1-8FAC-E17C237344D8}"/>
                </a:ext>
              </a:extLst>
            </p:cNvPr>
            <p:cNvSpPr/>
            <p:nvPr/>
          </p:nvSpPr>
          <p:spPr>
            <a:xfrm>
              <a:off x="1534883" y="8559273"/>
              <a:ext cx="6374674" cy="1718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C8FB5EF1-69D6-AEB9-F077-C90912EB3494}"/>
              </a:ext>
            </a:extLst>
          </p:cNvPr>
          <p:cNvSpPr txBox="1">
            <a:spLocks/>
          </p:cNvSpPr>
          <p:nvPr/>
        </p:nvSpPr>
        <p:spPr>
          <a:xfrm>
            <a:off x="1292980" y="8571143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dirty="0">
                <a:solidFill>
                  <a:schemeClr val="bg1"/>
                </a:solidFill>
              </a:rPr>
              <a:t>Descubra os caminhos mais comuns para entrar na área Tech. Compare carreiras como Programação, Dados, UX, Cloud e Segurança. Entenda como cada rota funciona e quais habilidades cada uma exigirá.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054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FA8B-E2B3-6E5F-1A67-8C33725D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F5A2DA78-DF7F-325E-73FD-9BBFAA0E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325979"/>
            <a:ext cx="8444979" cy="1904706"/>
          </a:xfrm>
        </p:spPr>
        <p:txBody>
          <a:bodyPr>
            <a:normAutofit fontScale="90000"/>
          </a:bodyPr>
          <a:lstStyle/>
          <a:p>
            <a:pPr algn="l"/>
            <a:r>
              <a:rPr lang="pt-BR" sz="4800" dirty="0">
                <a:latin typeface="Impact" panose="020B0806030902050204" pitchFamily="34" charset="0"/>
              </a:rPr>
              <a:t>As Principais Portas de Entrada para a Tecnologia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6AE3F58F-DAE7-5349-C5B3-2EEAFDD48D3E}"/>
              </a:ext>
            </a:extLst>
          </p:cNvPr>
          <p:cNvSpPr txBox="1">
            <a:spLocks/>
          </p:cNvSpPr>
          <p:nvPr/>
        </p:nvSpPr>
        <p:spPr>
          <a:xfrm>
            <a:off x="461277" y="4590288"/>
            <a:ext cx="8444979" cy="74677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900" dirty="0">
                <a:latin typeface="+mn-lt"/>
              </a:rPr>
              <a:t>Entrar na área Tech é como escolher uma rota. Cada porta exige habilidades diferentes, ritmos diferentes e perfis diferentes. Aqui estão as mais comuns:</a:t>
            </a:r>
          </a:p>
          <a:p>
            <a:pPr algn="l"/>
            <a:endParaRPr lang="pt-BR" sz="1900" b="1" dirty="0">
              <a:latin typeface="+mn-lt"/>
            </a:endParaRPr>
          </a:p>
          <a:p>
            <a:pPr algn="l"/>
            <a:r>
              <a:rPr lang="pt-BR" sz="1900" b="1" dirty="0">
                <a:latin typeface="+mn-lt"/>
              </a:rPr>
              <a:t>1. Programação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dirty="0">
                <a:latin typeface="+mn-lt"/>
              </a:rPr>
              <a:t>O caminho mais popular.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Você aprende a criar sistemas, sites e aplicativos.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Ferramentas de IA como Copilot e ChatGPT aceleram o processo explicando cada linha do código.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b="1" dirty="0">
                <a:latin typeface="+mn-lt"/>
              </a:rPr>
              <a:t>2. Análise de Dados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dirty="0">
                <a:latin typeface="+mn-lt"/>
              </a:rPr>
              <a:t>Ideal para quem gosta de números e decisões.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Você aprende a organizar dados, criar dashboards e gerar insights.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Hoje, grande parte desses processos pode ser guiada por 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b="1" dirty="0">
                <a:latin typeface="+mn-lt"/>
              </a:rPr>
              <a:t>3. UX/UI Design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dirty="0">
                <a:latin typeface="+mn-lt"/>
              </a:rPr>
              <a:t>Voltado para experiência do usuário.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Você aprende a criar telas, protótipos e interfaces intuitivas.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A IA ajuda criando wireframes, paletas de cores e ideias de layout.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b="1" dirty="0">
              <a:latin typeface="+mn-lt"/>
            </a:endParaRPr>
          </a:p>
          <a:p>
            <a:pPr algn="l"/>
            <a:r>
              <a:rPr lang="pt-BR" sz="1900" b="1" dirty="0">
                <a:latin typeface="+mn-lt"/>
              </a:rPr>
              <a:t>4. Cloud Computing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dirty="0">
                <a:latin typeface="+mn-lt"/>
              </a:rPr>
              <a:t>Área focada em infraestrutura remota.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Você aprende a trabalhar com servidores, redes e ambientes distribuídos.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IA ajuda na automação de tarefas e documentação.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b="1" dirty="0">
              <a:latin typeface="+mn-lt"/>
            </a:endParaRPr>
          </a:p>
          <a:p>
            <a:pPr algn="l"/>
            <a:r>
              <a:rPr lang="pt-BR" sz="1900" b="1" dirty="0">
                <a:latin typeface="+mn-lt"/>
              </a:rPr>
              <a:t>5. Cibersegurança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sz="1900" dirty="0">
              <a:latin typeface="+mn-lt"/>
            </a:endParaRPr>
          </a:p>
          <a:p>
            <a:pPr algn="l"/>
            <a:r>
              <a:rPr lang="pt-BR" sz="1900" dirty="0">
                <a:latin typeface="+mn-lt"/>
              </a:rPr>
              <a:t>Voltada à proteção digital.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Você aprende sobre ataques, vulnerabilidades e prevenção.</a:t>
            </a:r>
            <a:br>
              <a:rPr lang="pt-BR" sz="1900" dirty="0">
                <a:latin typeface="+mn-lt"/>
              </a:rPr>
            </a:br>
            <a:r>
              <a:rPr lang="pt-BR" sz="1900" dirty="0">
                <a:latin typeface="+mn-lt"/>
              </a:rPr>
              <a:t>A IA ajuda analisando padrões e detectando riscos.</a:t>
            </a:r>
          </a:p>
          <a:p>
            <a:pPr algn="l">
              <a:buNone/>
            </a:pPr>
            <a:endParaRPr lang="pt-BR" sz="1900" b="1" dirty="0">
              <a:latin typeface="+mn-lt"/>
            </a:endParaRPr>
          </a:p>
          <a:p>
            <a:pPr algn="l">
              <a:buNone/>
            </a:pPr>
            <a:r>
              <a:rPr lang="pt-BR" sz="1900" b="1" dirty="0">
                <a:latin typeface="+mn-lt"/>
              </a:rPr>
              <a:t>O ponto principal:</a:t>
            </a:r>
          </a:p>
          <a:p>
            <a:pPr algn="l">
              <a:buNone/>
            </a:pPr>
            <a:r>
              <a:rPr lang="pt-BR" sz="1900" dirty="0">
                <a:latin typeface="+mn-lt"/>
              </a:rPr>
              <a:t>Essas portas são excelentes — mas todas elas têm algo em comum:</a:t>
            </a:r>
          </a:p>
          <a:p>
            <a:pPr algn="l"/>
            <a:r>
              <a:rPr lang="pt-BR" sz="1900" b="1" dirty="0">
                <a:latin typeface="+mn-lt"/>
              </a:rPr>
              <a:t>Todas usam Inteligência Artificial para facilitar, agilizar ou automatizar partes do trabalho.</a:t>
            </a:r>
            <a:endParaRPr lang="pt-BR" sz="1900" dirty="0">
              <a:latin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6E89CE3-7B34-B8AC-B407-861331EE6B0E}"/>
              </a:ext>
            </a:extLst>
          </p:cNvPr>
          <p:cNvSpPr/>
          <p:nvPr/>
        </p:nvSpPr>
        <p:spPr>
          <a:xfrm flipV="1">
            <a:off x="313364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6EA4-5E79-17D8-F517-A4FCE492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E8AFC-292F-2DD9-5138-6F0E4B815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D9490-E4A4-0D13-5983-3498D5153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5C073E-23DA-A23D-4FD3-B2945AB477F7}"/>
              </a:ext>
            </a:extLst>
          </p:cNvPr>
          <p:cNvSpPr/>
          <p:nvPr/>
        </p:nvSpPr>
        <p:spPr>
          <a:xfrm>
            <a:off x="0" y="26126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_componente">
            <a:extLst>
              <a:ext uri="{FF2B5EF4-FFF2-40B4-BE49-F238E27FC236}">
                <a16:creationId xmlns:a16="http://schemas.microsoft.com/office/drawing/2014/main" id="{F71DEA17-F6A7-398A-E867-F91DAB8E2A45}"/>
              </a:ext>
            </a:extLst>
          </p:cNvPr>
          <p:cNvSpPr txBox="1">
            <a:spLocks/>
          </p:cNvSpPr>
          <p:nvPr/>
        </p:nvSpPr>
        <p:spPr>
          <a:xfrm>
            <a:off x="720090" y="1769479"/>
            <a:ext cx="8161020" cy="44868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800" dirty="0">
                <a:ln>
                  <a:solidFill>
                    <a:srgbClr val="00B0F0"/>
                  </a:solidFill>
                </a:ln>
                <a:noFill/>
                <a:latin typeface="Impact" panose="020B0806030902050204" pitchFamily="34" charset="0"/>
              </a:rPr>
              <a:t>03</a:t>
            </a:r>
            <a:endParaRPr lang="pt-BR" sz="8600" dirty="0">
              <a:ln>
                <a:solidFill>
                  <a:srgbClr val="FFFFFF"/>
                </a:solidFill>
              </a:ln>
              <a:noFill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D9838AA-6BC6-CC2F-4C6E-67AF488B10E2}"/>
              </a:ext>
            </a:extLst>
          </p:cNvPr>
          <p:cNvGrpSpPr/>
          <p:nvPr/>
        </p:nvGrpSpPr>
        <p:grpSpPr>
          <a:xfrm>
            <a:off x="738711" y="6299676"/>
            <a:ext cx="7967019" cy="2431470"/>
            <a:chOff x="738711" y="6299676"/>
            <a:chExt cx="7967019" cy="2431470"/>
          </a:xfrm>
        </p:grpSpPr>
        <p:sp>
          <p:nvSpPr>
            <p:cNvPr id="5" name="Título_componente">
              <a:extLst>
                <a:ext uri="{FF2B5EF4-FFF2-40B4-BE49-F238E27FC236}">
                  <a16:creationId xmlns:a16="http://schemas.microsoft.com/office/drawing/2014/main" id="{22A8CE43-9DF3-1393-55CE-992E6AA79E7C}"/>
                </a:ext>
              </a:extLst>
            </p:cNvPr>
            <p:cNvSpPr txBox="1">
              <a:spLocks/>
            </p:cNvSpPr>
            <p:nvPr/>
          </p:nvSpPr>
          <p:spPr>
            <a:xfrm>
              <a:off x="738711" y="6299676"/>
              <a:ext cx="7967019" cy="22162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6012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sz="6200" dirty="0">
                  <a:solidFill>
                    <a:schemeClr val="bg1"/>
                  </a:solidFill>
                  <a:latin typeface="Impact" panose="020B0806030902050204" pitchFamily="34" charset="0"/>
                </a:rPr>
                <a:t>POR QUE A INTELIGÊNCIA ARTIFICIAL É A PORTA DEFINITIVA</a:t>
              </a:r>
              <a:endParaRPr lang="pt-BR" sz="6200" dirty="0">
                <a:solidFill>
                  <a:schemeClr val="bg1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8902733-6653-8A46-2CC3-296EF592EFD2}"/>
                </a:ext>
              </a:extLst>
            </p:cNvPr>
            <p:cNvSpPr/>
            <p:nvPr/>
          </p:nvSpPr>
          <p:spPr>
            <a:xfrm>
              <a:off x="1534883" y="8559273"/>
              <a:ext cx="6374674" cy="1718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9" name="Texto_componente">
            <a:extLst>
              <a:ext uri="{FF2B5EF4-FFF2-40B4-BE49-F238E27FC236}">
                <a16:creationId xmlns:a16="http://schemas.microsoft.com/office/drawing/2014/main" id="{5556BA67-F947-0ED4-E305-1741873C348B}"/>
              </a:ext>
            </a:extLst>
          </p:cNvPr>
          <p:cNvSpPr txBox="1">
            <a:spLocks/>
          </p:cNvSpPr>
          <p:nvPr/>
        </p:nvSpPr>
        <p:spPr>
          <a:xfrm>
            <a:off x="1292980" y="8571143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dirty="0">
                <a:solidFill>
                  <a:schemeClr val="bg1"/>
                </a:solidFill>
              </a:rPr>
              <a:t>Veja como a IA acelera o aprendizado e reduz a complexidade inicial. Entenda por que ela potencializa todas as outras áreas da tecnologia. Aprenda por que começar pela IA é a estratégia mais eficiente hoje.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9436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6530-CE5B-033E-E391-D1F639CA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3FD67E66-B780-62F2-DD52-517A7F60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1" y="576171"/>
            <a:ext cx="8444979" cy="1904706"/>
          </a:xfrm>
        </p:spPr>
        <p:txBody>
          <a:bodyPr>
            <a:normAutofit fontScale="90000"/>
          </a:bodyPr>
          <a:lstStyle/>
          <a:p>
            <a:pPr algn="l"/>
            <a:r>
              <a:rPr lang="pt-BR" sz="4800" dirty="0">
                <a:latin typeface="Impact" panose="020B0806030902050204" pitchFamily="34" charset="0"/>
              </a:rPr>
              <a:t>Por Que a Inteligência Artificial É a Porta Definitiva</a:t>
            </a:r>
            <a:br>
              <a:rPr lang="pt-BR" dirty="0"/>
            </a:b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07D0E8-D970-8501-7CF7-F2D26B650359}"/>
              </a:ext>
            </a:extLst>
          </p:cNvPr>
          <p:cNvSpPr/>
          <p:nvPr/>
        </p:nvSpPr>
        <p:spPr>
          <a:xfrm flipV="1">
            <a:off x="423092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4B34C0-47B0-80CF-8F79-9D1345B1B04C}"/>
              </a:ext>
            </a:extLst>
          </p:cNvPr>
          <p:cNvSpPr txBox="1"/>
          <p:nvPr/>
        </p:nvSpPr>
        <p:spPr>
          <a:xfrm>
            <a:off x="644652" y="1983571"/>
            <a:ext cx="7749540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A IA não é apenas mais uma porta. Ela é a porta que abre todas as outras portas. Você pode entrar em Dados usando IA, Programação usando IA, UX usando IA, Cloud usando IA…A Inteligência Artificial acelerou cada área, reduziu a curva de aprendizado e tornou tudo mais acessível para iniciantes.</a:t>
            </a:r>
          </a:p>
          <a:p>
            <a:endParaRPr lang="pt-BR" dirty="0"/>
          </a:p>
          <a:p>
            <a:r>
              <a:rPr lang="pt-BR" dirty="0"/>
              <a:t>Aqui estão razões definitivas:</a:t>
            </a:r>
          </a:p>
          <a:p>
            <a:endParaRPr lang="pt-BR" dirty="0"/>
          </a:p>
          <a:p>
            <a:r>
              <a:rPr lang="pt-BR" b="1" dirty="0"/>
              <a:t>1. A IA encurta o tempo de aprendizado</a:t>
            </a:r>
          </a:p>
          <a:p>
            <a:r>
              <a:rPr lang="pt-BR" dirty="0"/>
              <a:t>Antes: meses para entender o básico.</a:t>
            </a:r>
            <a:br>
              <a:rPr lang="pt-BR" dirty="0"/>
            </a:br>
            <a:r>
              <a:rPr lang="pt-BR" dirty="0"/>
              <a:t>Hoje: a IA explica, resume, demonstra e corrige.</a:t>
            </a:r>
          </a:p>
          <a:p>
            <a:r>
              <a:rPr lang="pt-BR" dirty="0"/>
              <a:t>Exemplo forte:</a:t>
            </a:r>
            <a:br>
              <a:rPr lang="pt-BR" dirty="0"/>
            </a:br>
            <a:r>
              <a:rPr lang="pt-BR" dirty="0"/>
              <a:t>Alguém pode aprender SQL em semanas usando IA para criar queries, corrigir erros e mostrar exemplos reais.</a:t>
            </a:r>
          </a:p>
          <a:p>
            <a:endParaRPr lang="pt-BR" dirty="0"/>
          </a:p>
          <a:p>
            <a:pPr>
              <a:buNone/>
            </a:pPr>
            <a:r>
              <a:rPr lang="pt-BR" b="1" dirty="0"/>
              <a:t>2. A IA remove barreiras técnicas</a:t>
            </a:r>
          </a:p>
          <a:p>
            <a:r>
              <a:rPr lang="pt-BR" dirty="0"/>
              <a:t>Você não precisa mais saber tudo de lógica, estrutura de dados ou matemática avançada para começar.</a:t>
            </a:r>
            <a:br>
              <a:rPr lang="pt-BR" dirty="0"/>
            </a:br>
            <a:r>
              <a:rPr lang="pt-BR" dirty="0"/>
              <a:t>A IA simplifica esse caminho.</a:t>
            </a:r>
          </a:p>
          <a:p>
            <a:endParaRPr lang="pt-BR" dirty="0"/>
          </a:p>
          <a:p>
            <a:r>
              <a:rPr lang="pt-BR" b="1" dirty="0"/>
              <a:t>3. A IA gera projetos reais desde o início</a:t>
            </a:r>
          </a:p>
          <a:p>
            <a:r>
              <a:rPr lang="pt-BR" dirty="0"/>
              <a:t>Quer criar um dashboard?</a:t>
            </a:r>
            <a:br>
              <a:rPr lang="pt-BR" dirty="0"/>
            </a:br>
            <a:r>
              <a:rPr lang="pt-BR" dirty="0"/>
              <a:t>Quer desenvolver uma API simples?</a:t>
            </a:r>
            <a:br>
              <a:rPr lang="pt-BR" dirty="0"/>
            </a:br>
            <a:r>
              <a:rPr lang="pt-BR" dirty="0"/>
              <a:t>Quer montar um app básico?</a:t>
            </a:r>
            <a:br>
              <a:rPr lang="pt-BR" dirty="0"/>
            </a:br>
            <a:r>
              <a:rPr lang="pt-BR" dirty="0"/>
              <a:t>A IA te guia do zero ao protótipo funcional.</a:t>
            </a:r>
          </a:p>
          <a:p>
            <a:endParaRPr lang="pt-BR" dirty="0"/>
          </a:p>
          <a:p>
            <a:r>
              <a:rPr lang="pt-BR" b="1" dirty="0"/>
              <a:t>4. A IA está no centro da evolução da tecnologia</a:t>
            </a:r>
          </a:p>
          <a:p>
            <a:r>
              <a:rPr lang="pt-BR" dirty="0"/>
              <a:t>As empresas exigem profissionais que </a:t>
            </a:r>
            <a:r>
              <a:rPr lang="pt-BR" b="1" dirty="0"/>
              <a:t>sabem usar IA</a:t>
            </a:r>
            <a:r>
              <a:rPr lang="pt-BR" dirty="0"/>
              <a:t>, não que “tenham medo dela”.</a:t>
            </a:r>
            <a:br>
              <a:rPr lang="pt-BR" dirty="0"/>
            </a:br>
            <a:r>
              <a:rPr lang="pt-BR" dirty="0"/>
              <a:t>Começar pela IA é começar onde o mercado está olhando.</a:t>
            </a:r>
          </a:p>
          <a:p>
            <a:r>
              <a:rPr lang="pt-BR" dirty="0"/>
              <a:t>Por isso, entre todas as portas, </a:t>
            </a:r>
            <a:r>
              <a:rPr lang="pt-BR" b="1" dirty="0"/>
              <a:t>a IA é a mais estratégica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139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C863-0BA4-8E7A-BDAD-B46D7613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09C8D-8967-ED15-9331-D83A8BBDE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A01BF3-FC12-C755-5D10-7C79D0078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57EAEC-4790-02B4-7B20-D6A1F94CB507}"/>
              </a:ext>
            </a:extLst>
          </p:cNvPr>
          <p:cNvSpPr/>
          <p:nvPr/>
        </p:nvSpPr>
        <p:spPr>
          <a:xfrm>
            <a:off x="0" y="26126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_componente">
            <a:extLst>
              <a:ext uri="{FF2B5EF4-FFF2-40B4-BE49-F238E27FC236}">
                <a16:creationId xmlns:a16="http://schemas.microsoft.com/office/drawing/2014/main" id="{44FEACCD-2FD9-0FCE-25FB-47C507451AAF}"/>
              </a:ext>
            </a:extLst>
          </p:cNvPr>
          <p:cNvSpPr txBox="1">
            <a:spLocks/>
          </p:cNvSpPr>
          <p:nvPr/>
        </p:nvSpPr>
        <p:spPr>
          <a:xfrm>
            <a:off x="720090" y="1769479"/>
            <a:ext cx="8161020" cy="448685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800" dirty="0">
                <a:ln>
                  <a:solidFill>
                    <a:srgbClr val="00B0F0"/>
                  </a:solidFill>
                </a:ln>
                <a:noFill/>
                <a:latin typeface="Impact" panose="020B0806030902050204" pitchFamily="34" charset="0"/>
              </a:rPr>
              <a:t>04</a:t>
            </a:r>
            <a:endParaRPr lang="pt-BR" sz="8600" dirty="0">
              <a:ln>
                <a:solidFill>
                  <a:srgbClr val="FFFFFF"/>
                </a:solidFill>
              </a:ln>
              <a:noFill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BFFB68F-EB16-5DC2-4A30-C0C592C645AB}"/>
              </a:ext>
            </a:extLst>
          </p:cNvPr>
          <p:cNvGrpSpPr/>
          <p:nvPr/>
        </p:nvGrpSpPr>
        <p:grpSpPr>
          <a:xfrm>
            <a:off x="738711" y="5960038"/>
            <a:ext cx="7967019" cy="2379218"/>
            <a:chOff x="738711" y="6064542"/>
            <a:chExt cx="7967019" cy="2379218"/>
          </a:xfrm>
        </p:grpSpPr>
        <p:sp>
          <p:nvSpPr>
            <p:cNvPr id="5" name="Título_componente">
              <a:extLst>
                <a:ext uri="{FF2B5EF4-FFF2-40B4-BE49-F238E27FC236}">
                  <a16:creationId xmlns:a16="http://schemas.microsoft.com/office/drawing/2014/main" id="{48F91F0F-894F-BC1D-505B-CEA7BBE6C83D}"/>
                </a:ext>
              </a:extLst>
            </p:cNvPr>
            <p:cNvSpPr txBox="1">
              <a:spLocks/>
            </p:cNvSpPr>
            <p:nvPr/>
          </p:nvSpPr>
          <p:spPr>
            <a:xfrm>
              <a:off x="738711" y="6064542"/>
              <a:ext cx="7967019" cy="22162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6012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BR" sz="5400" dirty="0">
                  <a:solidFill>
                    <a:schemeClr val="bg1"/>
                  </a:solidFill>
                  <a:latin typeface="Impact" panose="020B0806030902050204" pitchFamily="34" charset="0"/>
                </a:rPr>
                <a:t>DO  ZERO AO TECH: ENTRANDO NA ÁREA TECH ATRAVÉS DA INTELIGÊNCIA ARTIFICIAL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8572DBB-F16E-AFB5-E9AD-C51972F6E603}"/>
                </a:ext>
              </a:extLst>
            </p:cNvPr>
            <p:cNvSpPr/>
            <p:nvPr/>
          </p:nvSpPr>
          <p:spPr>
            <a:xfrm>
              <a:off x="1534883" y="8271887"/>
              <a:ext cx="6374674" cy="1718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7AD2C3A1-1B71-B660-28E0-F3D223D0F868}"/>
              </a:ext>
            </a:extLst>
          </p:cNvPr>
          <p:cNvSpPr txBox="1">
            <a:spLocks/>
          </p:cNvSpPr>
          <p:nvPr/>
        </p:nvSpPr>
        <p:spPr>
          <a:xfrm>
            <a:off x="1292980" y="8571143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dirty="0">
                <a:solidFill>
                  <a:schemeClr val="bg1"/>
                </a:solidFill>
              </a:rPr>
              <a:t>Descubra como iniciar na tecnologia usando IA como guia de estudo. Aprenda a construir habilidades reais com ferramentas acessíveis. Veja um passo a passo simples para evoluir do zero à prática.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1891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4585-6B55-2385-5D76-A5231DA7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_componente">
            <a:extLst>
              <a:ext uri="{FF2B5EF4-FFF2-40B4-BE49-F238E27FC236}">
                <a16:creationId xmlns:a16="http://schemas.microsoft.com/office/drawing/2014/main" id="{BA111C8C-3C70-E4ED-331B-94BF41F58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29" y="1824735"/>
            <a:ext cx="8068192" cy="1426465"/>
          </a:xfrm>
        </p:spPr>
        <p:txBody>
          <a:bodyPr>
            <a:normAutofit fontScale="90000"/>
          </a:bodyPr>
          <a:lstStyle/>
          <a:p>
            <a:pPr algn="just"/>
            <a:r>
              <a:rPr lang="pt-BR" sz="4400" dirty="0">
                <a:latin typeface="Impact" panose="020B0806030902050204" pitchFamily="34" charset="0"/>
              </a:rPr>
              <a:t>Do Zero ao Tech: Entrando na Área Tech Através da Inteligência Artificial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71E0004E-BACD-64CC-15A3-2716D4B99967}"/>
              </a:ext>
            </a:extLst>
          </p:cNvPr>
          <p:cNvSpPr txBox="1">
            <a:spLocks/>
          </p:cNvSpPr>
          <p:nvPr/>
        </p:nvSpPr>
        <p:spPr>
          <a:xfrm>
            <a:off x="534429" y="4322717"/>
            <a:ext cx="7904177" cy="6975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600" dirty="0">
                <a:latin typeface="+mn-lt"/>
              </a:rPr>
              <a:t>Comece entendendo conceitos básicos </a:t>
            </a:r>
          </a:p>
          <a:p>
            <a:pPr algn="just"/>
            <a:r>
              <a:rPr lang="pt-BR" sz="1600" dirty="0">
                <a:latin typeface="+mn-lt"/>
              </a:rPr>
              <a:t>Peça para a IA explicar: </a:t>
            </a:r>
          </a:p>
          <a:p>
            <a:pPr algn="just"/>
            <a:endParaRPr lang="pt-BR" sz="16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O que são dados?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O que é lógica?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O que é nuvem?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O que é API?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Com explicações simples, você ganha base rapidamente.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Use IA para aprender fazendo</a:t>
            </a:r>
          </a:p>
          <a:p>
            <a:pPr algn="just"/>
            <a:r>
              <a:rPr lang="pt-BR" sz="1600" dirty="0">
                <a:latin typeface="+mn-lt"/>
              </a:rPr>
              <a:t>Escolha uma área (programação, dados, UX, IA) e peça à IA: “Crie um exercício simples para iniciantes e me mostre como resolver.”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Monte pequenos projetos </a:t>
            </a:r>
          </a:p>
          <a:p>
            <a:pPr algn="just"/>
            <a:endParaRPr lang="pt-BR" sz="16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Por exemplo: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Um dashboard básico com IA explicando cada passo.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Um pequeno aplicativo com código gerado pela 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Um protótipo no Figma criado com ajuda da 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Projetos simples criam confiança e portfólio.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Evolua gradualmente</a:t>
            </a:r>
          </a:p>
          <a:p>
            <a:pPr algn="just"/>
            <a:r>
              <a:rPr lang="pt-BR" sz="1600" dirty="0">
                <a:latin typeface="+mn-lt"/>
              </a:rPr>
              <a:t>A IA te mostra o que aprender em seguida.</a:t>
            </a:r>
          </a:p>
          <a:p>
            <a:pPr algn="just"/>
            <a:r>
              <a:rPr lang="pt-BR" sz="1600" dirty="0">
                <a:latin typeface="+mn-lt"/>
              </a:rPr>
              <a:t>Ela te dá trilhas, desafios e melhorias.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Construa presença</a:t>
            </a:r>
          </a:p>
          <a:p>
            <a:pPr algn="just"/>
            <a:r>
              <a:rPr lang="pt-BR" sz="1600" dirty="0">
                <a:latin typeface="+mn-lt"/>
              </a:rPr>
              <a:t>Compartilhe seus projetos no LinkedIn, GitHub ou Instagram. Isso abre portas reais no mercado.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endParaRPr lang="pt-BR" sz="1600" dirty="0">
              <a:latin typeface="+mn-lt"/>
            </a:endParaRPr>
          </a:p>
        </p:txBody>
      </p:sp>
      <p:sp>
        <p:nvSpPr>
          <p:cNvPr id="6" name="Subtitulo_componente">
            <a:extLst>
              <a:ext uri="{FF2B5EF4-FFF2-40B4-BE49-F238E27FC236}">
                <a16:creationId xmlns:a16="http://schemas.microsoft.com/office/drawing/2014/main" id="{AB5E2D95-41DF-73EE-F466-535C48A93D07}"/>
              </a:ext>
            </a:extLst>
          </p:cNvPr>
          <p:cNvSpPr txBox="1"/>
          <p:nvPr/>
        </p:nvSpPr>
        <p:spPr>
          <a:xfrm>
            <a:off x="559829" y="2246951"/>
            <a:ext cx="7878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+mj-lt"/>
              </a:rPr>
              <a:t>Este é o capítulo mais prático. Aqui está o caminho simples e eficiente para entrar na área Tech usando IA: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D68D14-8EDF-4B25-CE3A-86388A40F6F3}"/>
              </a:ext>
            </a:extLst>
          </p:cNvPr>
          <p:cNvSpPr/>
          <p:nvPr/>
        </p:nvSpPr>
        <p:spPr>
          <a:xfrm flipV="1">
            <a:off x="423092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13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274A-F94A-ED77-525D-0DB70AF9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_componente">
            <a:extLst>
              <a:ext uri="{FF2B5EF4-FFF2-40B4-BE49-F238E27FC236}">
                <a16:creationId xmlns:a16="http://schemas.microsoft.com/office/drawing/2014/main" id="{E65EB453-07B9-F4D7-4C0C-7090DEB3378A}"/>
              </a:ext>
            </a:extLst>
          </p:cNvPr>
          <p:cNvSpPr txBox="1">
            <a:spLocks/>
          </p:cNvSpPr>
          <p:nvPr/>
        </p:nvSpPr>
        <p:spPr>
          <a:xfrm>
            <a:off x="1056947" y="829586"/>
            <a:ext cx="7967019" cy="22162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800" dirty="0" err="1">
                <a:latin typeface="Impact" panose="020B0806030902050204" pitchFamily="34" charset="0"/>
              </a:rPr>
              <a:t>Lorem</a:t>
            </a:r>
            <a:r>
              <a:rPr lang="pt-BR" sz="4800" dirty="0">
                <a:latin typeface="Impact" panose="020B0806030902050204" pitchFamily="34" charset="0"/>
              </a:rPr>
              <a:t> ipsum </a:t>
            </a:r>
            <a:r>
              <a:rPr lang="pt-BR" sz="4800" dirty="0" err="1">
                <a:latin typeface="Impact" panose="020B0806030902050204" pitchFamily="34" charset="0"/>
              </a:rPr>
              <a:t>dolor</a:t>
            </a:r>
            <a:r>
              <a:rPr lang="pt-BR" sz="4800" dirty="0">
                <a:latin typeface="Impact" panose="020B0806030902050204" pitchFamily="34" charset="0"/>
              </a:rPr>
              <a:t> </a:t>
            </a:r>
            <a:r>
              <a:rPr lang="pt-BR" sz="4800" dirty="0" err="1">
                <a:latin typeface="Impact" panose="020B0806030902050204" pitchFamily="34" charset="0"/>
              </a:rPr>
              <a:t>sit</a:t>
            </a:r>
            <a:r>
              <a:rPr lang="pt-BR" sz="4800" dirty="0">
                <a:latin typeface="Impact" panose="020B0806030902050204" pitchFamily="34" charset="0"/>
              </a:rPr>
              <a:t> </a:t>
            </a:r>
            <a:r>
              <a:rPr lang="pt-BR" sz="4800" dirty="0" err="1">
                <a:latin typeface="Impact" panose="020B0806030902050204" pitchFamily="34" charset="0"/>
              </a:rPr>
              <a:t>amet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5E66B2D5-6B52-B023-B34C-B757393E6649}"/>
              </a:ext>
            </a:extLst>
          </p:cNvPr>
          <p:cNvSpPr txBox="1">
            <a:spLocks/>
          </p:cNvSpPr>
          <p:nvPr/>
        </p:nvSpPr>
        <p:spPr>
          <a:xfrm>
            <a:off x="1135325" y="4505165"/>
            <a:ext cx="7015240" cy="34901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 err="1"/>
              <a:t>Lorem</a:t>
            </a:r>
            <a:r>
              <a:rPr lang="pt-BR" sz="2500" dirty="0"/>
              <a:t> ipsum </a:t>
            </a:r>
            <a:r>
              <a:rPr lang="pt-BR" sz="2500" dirty="0" err="1"/>
              <a:t>dolor</a:t>
            </a:r>
            <a:r>
              <a:rPr lang="pt-BR" sz="2500" dirty="0"/>
              <a:t> </a:t>
            </a:r>
            <a:r>
              <a:rPr lang="pt-BR" sz="2500" dirty="0" err="1"/>
              <a:t>sit</a:t>
            </a:r>
            <a:r>
              <a:rPr lang="pt-BR" sz="2500" dirty="0"/>
              <a:t> </a:t>
            </a:r>
            <a:r>
              <a:rPr lang="pt-BR" sz="2500" dirty="0" err="1"/>
              <a:t>amet</a:t>
            </a:r>
            <a:r>
              <a:rPr lang="pt-BR" sz="2500" dirty="0"/>
              <a:t>, </a:t>
            </a:r>
            <a:r>
              <a:rPr lang="pt-BR" sz="2500" dirty="0" err="1"/>
              <a:t>consectetuer</a:t>
            </a:r>
            <a:r>
              <a:rPr lang="pt-BR" sz="2500" dirty="0"/>
              <a:t> </a:t>
            </a:r>
            <a:r>
              <a:rPr lang="pt-BR" sz="2500" dirty="0" err="1"/>
              <a:t>adipiscing</a:t>
            </a:r>
            <a:r>
              <a:rPr lang="pt-BR" sz="2500" dirty="0"/>
              <a:t> </a:t>
            </a:r>
            <a:r>
              <a:rPr lang="pt-BR" sz="2500" dirty="0" err="1"/>
              <a:t>elit</a:t>
            </a:r>
            <a:r>
              <a:rPr lang="pt-BR" sz="2500" dirty="0"/>
              <a:t>. </a:t>
            </a:r>
            <a:r>
              <a:rPr lang="pt-BR" sz="2500" dirty="0" err="1"/>
              <a:t>Maecenas</a:t>
            </a:r>
            <a:r>
              <a:rPr lang="pt-BR" sz="2500" dirty="0"/>
              <a:t> </a:t>
            </a:r>
            <a:r>
              <a:rPr lang="pt-BR" sz="2500" dirty="0" err="1"/>
              <a:t>porttitor</a:t>
            </a:r>
            <a:r>
              <a:rPr lang="pt-BR" sz="2500" dirty="0"/>
              <a:t> </a:t>
            </a:r>
            <a:r>
              <a:rPr lang="pt-BR" sz="2500" dirty="0" err="1"/>
              <a:t>congue</a:t>
            </a:r>
            <a:r>
              <a:rPr lang="pt-BR" sz="2500" dirty="0"/>
              <a:t> massa. </a:t>
            </a:r>
            <a:r>
              <a:rPr lang="pt-BR" sz="2500" dirty="0" err="1"/>
              <a:t>Fusce</a:t>
            </a:r>
            <a:r>
              <a:rPr lang="pt-BR" sz="2500" dirty="0"/>
              <a:t> </a:t>
            </a:r>
            <a:r>
              <a:rPr lang="pt-BR" sz="2500" dirty="0" err="1"/>
              <a:t>posuere</a:t>
            </a:r>
            <a:r>
              <a:rPr lang="pt-BR" sz="2500" dirty="0"/>
              <a:t>, magna </a:t>
            </a:r>
            <a:r>
              <a:rPr lang="pt-BR" sz="2500" dirty="0" err="1"/>
              <a:t>sed</a:t>
            </a:r>
            <a:r>
              <a:rPr lang="pt-BR" sz="2500" dirty="0"/>
              <a:t> </a:t>
            </a:r>
            <a:r>
              <a:rPr lang="pt-BR" sz="2500" dirty="0" err="1"/>
              <a:t>pulvinar</a:t>
            </a:r>
            <a:r>
              <a:rPr lang="pt-BR" sz="2500" dirty="0"/>
              <a:t> </a:t>
            </a:r>
            <a:r>
              <a:rPr lang="pt-BR" sz="2500" dirty="0" err="1"/>
              <a:t>ultricies</a:t>
            </a:r>
            <a:r>
              <a:rPr lang="pt-BR" sz="2500" dirty="0"/>
              <a:t>, </a:t>
            </a:r>
            <a:r>
              <a:rPr lang="pt-BR" sz="2500" dirty="0" err="1"/>
              <a:t>purus</a:t>
            </a:r>
            <a:r>
              <a:rPr lang="pt-BR" sz="2500" dirty="0"/>
              <a:t> </a:t>
            </a:r>
            <a:r>
              <a:rPr lang="pt-BR" sz="2500" dirty="0" err="1"/>
              <a:t>lectus</a:t>
            </a:r>
            <a:r>
              <a:rPr lang="pt-BR" sz="2500" dirty="0"/>
              <a:t> </a:t>
            </a:r>
            <a:r>
              <a:rPr lang="pt-BR" sz="2500" dirty="0" err="1"/>
              <a:t>malesuada</a:t>
            </a:r>
            <a:r>
              <a:rPr lang="pt-BR" sz="2500" dirty="0"/>
              <a:t> libero, </a:t>
            </a:r>
            <a:r>
              <a:rPr lang="pt-BR" sz="2500" dirty="0" err="1"/>
              <a:t>sit</a:t>
            </a:r>
            <a:r>
              <a:rPr lang="pt-BR" sz="2500" dirty="0"/>
              <a:t> </a:t>
            </a:r>
            <a:r>
              <a:rPr lang="pt-BR" sz="2500" dirty="0" err="1"/>
              <a:t>amet</a:t>
            </a:r>
            <a:r>
              <a:rPr lang="pt-BR" sz="2500" dirty="0"/>
              <a:t> </a:t>
            </a:r>
            <a:r>
              <a:rPr lang="pt-BR" sz="2500" dirty="0" err="1"/>
              <a:t>commodo</a:t>
            </a:r>
            <a:r>
              <a:rPr lang="pt-BR" sz="2500" dirty="0"/>
              <a:t> magna </a:t>
            </a:r>
            <a:r>
              <a:rPr lang="pt-BR" sz="2500" dirty="0" err="1"/>
              <a:t>eros</a:t>
            </a:r>
            <a:r>
              <a:rPr lang="pt-BR" sz="2500" dirty="0"/>
              <a:t> quis urna</a:t>
            </a:r>
            <a:r>
              <a:rPr lang="pt-BR" sz="2700" dirty="0"/>
              <a:t>.</a:t>
            </a:r>
            <a:br>
              <a:rPr lang="pt-BR" sz="2700" dirty="0"/>
            </a:br>
            <a:br>
              <a:rPr lang="pt-BR" dirty="0"/>
            </a:br>
            <a:endParaRPr lang="pt-BR" dirty="0"/>
          </a:p>
        </p:txBody>
      </p:sp>
      <p:sp>
        <p:nvSpPr>
          <p:cNvPr id="7" name="Subtitulo_componente">
            <a:extLst>
              <a:ext uri="{FF2B5EF4-FFF2-40B4-BE49-F238E27FC236}">
                <a16:creationId xmlns:a16="http://schemas.microsoft.com/office/drawing/2014/main" id="{0ED77D8B-8151-016D-9F40-BB17CDEEC8DE}"/>
              </a:ext>
            </a:extLst>
          </p:cNvPr>
          <p:cNvSpPr txBox="1"/>
          <p:nvPr/>
        </p:nvSpPr>
        <p:spPr>
          <a:xfrm>
            <a:off x="1135325" y="3670651"/>
            <a:ext cx="5520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>
                <a:latin typeface="+mj-lt"/>
              </a:rPr>
              <a:t>Lorem</a:t>
            </a:r>
            <a:r>
              <a:rPr lang="pt-BR" sz="2800" dirty="0">
                <a:latin typeface="+mj-lt"/>
              </a:rPr>
              <a:t> ipsum </a:t>
            </a:r>
            <a:r>
              <a:rPr lang="pt-BR" sz="2800" dirty="0" err="1">
                <a:latin typeface="+mj-lt"/>
              </a:rPr>
              <a:t>dolor</a:t>
            </a:r>
            <a:r>
              <a:rPr lang="pt-BR" sz="2800" dirty="0">
                <a:latin typeface="+mj-lt"/>
              </a:rPr>
              <a:t> </a:t>
            </a:r>
            <a:r>
              <a:rPr lang="pt-BR" sz="2800" dirty="0" err="1">
                <a:latin typeface="+mj-lt"/>
              </a:rPr>
              <a:t>sit</a:t>
            </a:r>
            <a:r>
              <a:rPr lang="pt-BR" sz="2800" dirty="0">
                <a:latin typeface="+mj-lt"/>
              </a:rPr>
              <a:t> </a:t>
            </a:r>
            <a:r>
              <a:rPr lang="pt-BR" sz="2800" dirty="0" err="1">
                <a:latin typeface="+mj-lt"/>
              </a:rPr>
              <a:t>amet</a:t>
            </a:r>
            <a:endParaRPr lang="pt-BR" sz="2800" dirty="0">
              <a:latin typeface="+mj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4D6892-0EC5-B636-D9FE-ADE308EAD01D}"/>
              </a:ext>
            </a:extLst>
          </p:cNvPr>
          <p:cNvSpPr/>
          <p:nvPr/>
        </p:nvSpPr>
        <p:spPr>
          <a:xfrm flipV="1">
            <a:off x="733988" y="-2710"/>
            <a:ext cx="144000" cy="151200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77000"/>
                  <a:lumMod val="98000"/>
                  <a:lumOff val="2000"/>
                </a:schemeClr>
              </a:gs>
              <a:gs pos="42000">
                <a:schemeClr val="accent5">
                  <a:lumMod val="0"/>
                  <a:lumOff val="100000"/>
                </a:schemeClr>
              </a:gs>
              <a:gs pos="100000">
                <a:srgbClr val="00B0F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61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D590-DF82-4BE8-EF8D-F5525853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E6B5B-1E7E-0B5E-00E9-C7DA8A024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F440DB-9B67-3FA1-5185-552340216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940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38CF-E7F6-46BA-B076-65BF8D34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ECDEF-C929-052E-D807-A3F941A4C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EB096E-EFB1-FFE6-C4EF-A82F2D347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384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2671</TotalTime>
  <Words>1764</Words>
  <Application>Microsoft Office PowerPoint</Application>
  <PresentationFormat>Papel A3 (297 x 420 mm)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Impact</vt:lpstr>
      <vt:lpstr>Tema do Office</vt:lpstr>
      <vt:lpstr>Apresentação do PowerPoint</vt:lpstr>
      <vt:lpstr>Lorem ipsum dolor sit amet.  </vt:lpstr>
      <vt:lpstr>Apresentação do PowerPoint</vt:lpstr>
      <vt:lpstr>Introdução  </vt:lpstr>
      <vt:lpstr>Apresentação do PowerPoint</vt:lpstr>
      <vt:lpstr>Introdução  </vt:lpstr>
      <vt:lpstr>Apresentação do PowerPoint</vt:lpstr>
      <vt:lpstr>O NOVO MAPA DA TECNOLOGIA.  </vt:lpstr>
      <vt:lpstr>Apresentação do PowerPoint</vt:lpstr>
      <vt:lpstr>As Principais Portas de Entrada para a Tecnologia.  </vt:lpstr>
      <vt:lpstr>Apresentação do PowerPoint</vt:lpstr>
      <vt:lpstr>Por Que a Inteligência Artificial É a Porta Definitiva </vt:lpstr>
      <vt:lpstr>Apresentação do PowerPoint</vt:lpstr>
      <vt:lpstr>Do Zero ao Tech: Entrando na Área Tech Através da Inteligência Artificial  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Deandeli Freitas Santos</dc:creator>
  <cp:lastModifiedBy>Deandeli Freitas Santos</cp:lastModifiedBy>
  <cp:revision>8</cp:revision>
  <dcterms:created xsi:type="dcterms:W3CDTF">2025-11-12T01:29:46Z</dcterms:created>
  <dcterms:modified xsi:type="dcterms:W3CDTF">2025-11-16T03:28:55Z</dcterms:modified>
</cp:coreProperties>
</file>